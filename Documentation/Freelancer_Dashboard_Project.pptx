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Freelancer Marketplace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Performance Dashboard — Full Project Walkthrough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messy 1,000-row export to a clean, filterable Excel dashboard: the data cleaning formulas, pivot tables, charts, slicers, and the findings they reveal.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Bharath M  •  Final-year B.Tech IT, Kongu Engineering College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sections, from raw data to finished dashboard.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4F7F8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02082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20824"/>
            <a:ext cx="6492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source data, and the deliverable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4F7F8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517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70662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706624"/>
            <a:ext cx="6492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shape, and what needed fixing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4F7F8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37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39242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392424"/>
            <a:ext cx="6492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raw columns, one formula each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4F7F8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233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8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407822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4078224"/>
            <a:ext cx="6492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summary tables behind the charts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4F7F8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091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476402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Charts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4764024"/>
            <a:ext cx="6492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chart types, and live slicers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F4F7F8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3949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54480" y="5449824"/>
            <a:ext cx="32918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Next Steps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37760" y="5449824"/>
            <a:ext cx="64922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show, and what's next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messy 1,000-row freelancer export into a clean, filterable Excel dashboard a manager can actually use.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3182112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Gender, Age, Country, Language, Primary Skill, Experience, Hourly Rate, Rating, Status, and Client Satisfaction — each arriving in inconsistent raw formats.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526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4462272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3-sheet workbook — Dashboard, Pivots, Data — with two live slicers that filter every KPI and chart at once.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raw export looked like before any cleanup.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93392"/>
            <a:ext cx="2567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567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0138" y="1920240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0138" y="1993392"/>
            <a:ext cx="2567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90138" y="2514600"/>
            <a:ext cx="2567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920240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1636" y="1993392"/>
            <a:ext cx="2567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31636" y="2514600"/>
            <a:ext cx="2567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needing cleanup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73134" y="1920240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3134" y="1993392"/>
            <a:ext cx="25671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73134" y="2514600"/>
            <a:ext cx="25671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skills tracked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75888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carried titles (Mr./Ms./Dr.) that had to be stripped before reporting on people by name.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325112"/>
            <a:ext cx="128016" cy="12801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062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status, and satisfaction each had multiple inconsistent raw formats mixed in the same column.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855464"/>
            <a:ext cx="128016" cy="12801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36592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 was stored as text ("$40", "USD 100") — unusable in any calculation until converted.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385816"/>
            <a:ext cx="128016" cy="12801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266944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cleanup, pivot tables and charts would have under-counted or miscategorized hundreds of rows.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— At a Glance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raw columns, each fixed with one formula. Full detail on the following pages.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50800" dist="25400" dir="5400000">
              <a:srgbClr val="7F8C8D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09397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3288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titles (Mr./Ms./Dr.) from name_raw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06824" y="196596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50800" dist="25400" dir="5400000">
              <a:srgbClr val="7F8C8D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71416" y="209397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71416" y="253288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free-text values to female / male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196596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50800" dist="25400" dir="5400000">
              <a:srgbClr val="7F8C8D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09397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53288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numeric years to 5 clean bands via VLOOKUP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50800" dist="25400" dir="5400000">
              <a:srgbClr val="7F8C8D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83133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42702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$ and "USD" text, converted to a real number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06824" y="370332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50800" dist="25400" dir="5400000">
              <a:srgbClr val="7F8C8D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71416" y="383133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71416" y="42702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1/0, Y/N, yes/no, TRUE/FALSE into Active / Not Active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65008" y="370332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  <a:effectLst>
            <a:outerShdw sx="100000" sy="100000" kx="0" ky="0" algn="bl" rotWithShape="0" blurRad="50800" dist="25400" dir="5400000">
              <a:srgbClr val="7F8C8D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3831336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427024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mixed % and decimal formats to one percentage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8A9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NAME_RAW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17720" y="457200"/>
            <a:ext cx="502920" cy="27432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0" y="4572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4572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5720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1 of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arrive with titles attached — "Mr.", "Ms.", "Dr." — mixed in with clean names.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=IFERROR(RIGHT(B2, LEN(B2) - FIND(". ", B2) - 1), B2)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44168" y="3291840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". " after a title and measures how many characters follow it.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1713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44168" y="4288536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just that remaining part — the name without the title.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138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44168" y="5285232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there's no title to begin with, keeps the name exactly as it is.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8A9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GENDER_RAW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17720" y="457200"/>
            <a:ext cx="502920" cy="274320"/>
          </a:xfrm>
          <a:prstGeom prst="rightArrow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0" y="4572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4572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5720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2 of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 up as F, f, Female, FEMALE, M, m, Male, MALE — ten spellings for two genders.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=IF(LOWER(LEFT(D2,1))="f", "female", "male")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44168" y="3291840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only the first letter of whatever was entered.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17136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44168" y="4288536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it to lowercase so F, f and FEMALE all match the same way.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13832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44168" y="5285232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clean "female" or "male" value every time.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8A9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YEARS_OF_EXPERIENCE_RAW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17720" y="457200"/>
            <a:ext cx="502920" cy="274320"/>
          </a:xfrm>
          <a:prstGeom prst="rightArrow">
            <a:avLst/>
          </a:prstGeom>
          <a:solidFill>
            <a:srgbClr val="E9A23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0" y="4572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4572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5720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3 of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is a raw number of years, but the report needs it grouped into bands (0-5, 6-10, etc.).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=VLOOKUP(J2, $T$2:$U$6, 2, TRUE)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44168" y="3291840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the number of years against a small reference table.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17136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44168" y="4288536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match finds the closest band at or below that number.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13832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44168" y="5285232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matching band label, e.g. 13 years → "11-15".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8A9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HOURLY_RATE (USD)_RAW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17720" y="457200"/>
            <a:ext cx="502920" cy="27432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0" y="4572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4572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5720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4 of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are stored as text like "$40", "USD 100", or "75" — not usable in calculations.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=VALUE(TRIM(SUBSTITUTE(SUBSTITUTE(L2,"$",""),"USD","")))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44168" y="3291840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out the "$" symbol, then strips out the word "USD".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1713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44168" y="4288536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 the leftover blank space from either removal.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138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44168" y="5285232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cleaned text into a real number Excel can calculate with.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8A9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IS_ACTIVE_RAW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17720" y="457200"/>
            <a:ext cx="502920" cy="274320"/>
          </a:xfrm>
          <a:prstGeom prst="rightArrow">
            <a:avLst/>
          </a:prstGeom>
          <a:solidFill>
            <a:srgbClr val="E76F51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0" y="4572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4572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5720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5 of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 is recorded six different ways: 1/0, Y/N, yes/no, TRUE/FALSE.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=IF(OR(O2=1, O2=TRUE, O2="Y", O2="yes"), "Active", "Not Active")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44168" y="3291840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cell against every known "active" format at once.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17136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44168" y="4288536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is checked separately from 1, since Excel treats them differently.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13832"/>
            <a:ext cx="384048" cy="38404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44168" y="5285232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plain "Active" or "Not Active" label.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31920" cy="402336"/>
          </a:xfrm>
          <a:prstGeom prst="roundRect">
            <a:avLst>
              <a:gd name="adj" fmla="val 50000"/>
            </a:avLst>
          </a:prstGeom>
          <a:solidFill>
            <a:srgbClr val="8A9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CLIENT_SATISFACTION_RAW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17720" y="457200"/>
            <a:ext cx="502920" cy="274320"/>
          </a:xfrm>
          <a:prstGeom prst="rightArrow">
            <a:avLst/>
          </a:prstGeom>
          <a:solidFill>
            <a:srgbClr val="E9A23B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0" y="4572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4572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57200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6 of 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mix formats — some are "84%" as text, some are 0.84, some are a plain 84 — plus blanks.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=IF(Q2="","",IF(ISNUMBER(Q2), IF(Q2&gt;1, Q2/100, Q2), VALUE(SUBSTITUTE(Q2,"%",""))/100))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44168" y="3291840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truly blank cells blank, instead of showing an error or zero.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17136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17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44168" y="4288536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already a number over 1 (like 84), divides it by 100.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13832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44168" y="5285232"/>
            <a:ext cx="10085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text with a "%" sign, removes the sign and divides by 100.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Columns, Six Formulas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raw field needed a different fix — but every formula follows the same pattern: detect the messy shape, strip or map it, return one clean value.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44824" cy="1417320"/>
          </a:xfrm>
          <a:prstGeom prst="roundRect">
            <a:avLst>
              <a:gd name="adj" fmla="val 4516"/>
            </a:avLst>
          </a:prstGeom>
          <a:solidFill>
            <a:srgbClr val="24436B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96312"/>
            <a:ext cx="3179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name_raw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98648"/>
            <a:ext cx="3179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965960"/>
            <a:ext cx="3544824" cy="1417320"/>
          </a:xfrm>
          <a:prstGeom prst="roundRect">
            <a:avLst>
              <a:gd name="adj" fmla="val 4516"/>
            </a:avLst>
          </a:prstGeom>
          <a:solidFill>
            <a:srgbClr val="24436B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4944" y="2103120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04944" y="2496312"/>
            <a:ext cx="3179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gender_raw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04944" y="2898648"/>
            <a:ext cx="3179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5488" y="1965960"/>
            <a:ext cx="3544824" cy="1417320"/>
          </a:xfrm>
          <a:prstGeom prst="roundRect">
            <a:avLst>
              <a:gd name="adj" fmla="val 4516"/>
            </a:avLst>
          </a:prstGeom>
          <a:solidFill>
            <a:srgbClr val="24436B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8368" y="2103120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8368" y="2496312"/>
            <a:ext cx="3179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years_of_experience_raw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8368" y="2898648"/>
            <a:ext cx="3179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544824" cy="1417320"/>
          </a:xfrm>
          <a:prstGeom prst="roundRect">
            <a:avLst>
              <a:gd name="adj" fmla="val 4516"/>
            </a:avLst>
          </a:prstGeom>
          <a:solidFill>
            <a:srgbClr val="24436B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49040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142232"/>
            <a:ext cx="3179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hourly_rate (USD)_raw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544568"/>
            <a:ext cx="3179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2064" y="3611880"/>
            <a:ext cx="3544824" cy="1417320"/>
          </a:xfrm>
          <a:prstGeom prst="roundRect">
            <a:avLst>
              <a:gd name="adj" fmla="val 4516"/>
            </a:avLst>
          </a:prstGeom>
          <a:solidFill>
            <a:srgbClr val="24436B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4944" y="3749040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04944" y="4142232"/>
            <a:ext cx="3179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is_active_raw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04944" y="4544568"/>
            <a:ext cx="3179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5488" y="3611880"/>
            <a:ext cx="3544824" cy="1417320"/>
          </a:xfrm>
          <a:prstGeom prst="roundRect">
            <a:avLst>
              <a:gd name="adj" fmla="val 4516"/>
            </a:avLst>
          </a:prstGeom>
          <a:solidFill>
            <a:srgbClr val="24436B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8368" y="3749040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78368" y="4142232"/>
            <a:ext cx="3179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client_satisfaction_raw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8368" y="4544568"/>
            <a:ext cx="3179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F83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formula-driven summary tables sit on the Pivots sheet and feed the dashboard charts.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393192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2377440"/>
                <a:gridCol w="533095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Field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Skill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Rating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skills get the highest client ratings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of Experience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Freelancers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workforce is distributed by tenure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Freelancers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distribution across the marketplace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Freelancers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Spoken-language mix of the freelancer pool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Freelancers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concentration of freelancers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on one sheet: filters at the top, KPI cards below, five charts underneath.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332720" cy="54864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SKILL ▸  All      STATUS ▸  All   (slicers)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697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697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$52.46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1264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0" y="26974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77824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794760"/>
            <a:ext cx="3261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794760"/>
            <a:ext cx="326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by Skill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58640" y="3794760"/>
            <a:ext cx="3261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8640" y="3794760"/>
            <a:ext cx="326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Mix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94320" y="3794760"/>
            <a:ext cx="3261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4320" y="3794760"/>
            <a:ext cx="326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Distribution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5212080"/>
            <a:ext cx="3261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12080"/>
            <a:ext cx="326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Language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58640" y="5212080"/>
            <a:ext cx="3261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58640" y="5212080"/>
            <a:ext cx="326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Country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Types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96596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by Primary Skill — horizontal bars rank skills top to bottom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2852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2807208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by Years of Experience — share of the workforce by tenure band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39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36941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3648456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Freelancers by Hourly Rate — % distribution across price points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502920" cy="502920"/>
          </a:xfrm>
          <a:prstGeom prst="ellipse">
            <a:avLst/>
          </a:prstGeom>
          <a:solidFill>
            <a:srgbClr val="4F83A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81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34440" y="453542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0" y="4489704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by Language — count across 16 languages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422392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422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34440" y="53766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00400" y="5330952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by Country — count across 25 countries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 — Slicers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dropdown cells on the Dashboard sheet drive every number and chart in the workbook.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Skill 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one of 10 skills, or "All" to reset. Filters the Average Rating by Skill chart and the KPI cards.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1072" y="20116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19456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6517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Active, Not Active, or "All". Combine with the skill filter to answer two-part questions, e.g. active DevOps freelancers only.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tested: Primary Skill = DevOps + Status = Active → 47 freelancers, confirmed against a direct count of the raw data.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freelancers after cleaning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474720" y="2788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client rating (out of 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$52.46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0" y="2788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hourly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79.3%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778240" y="2788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client satisfaction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freelancers earn the highest average rating (2.81); South Korea and Canada lead the freelancer count by country.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filters reveals more: active DevOps freelancers alone number 47, with an average rating of 3.06 — above the overall average.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4F83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drew on, start to finish.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11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Formulas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94767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OR, AND, VLOOKUP, SUBSTITUTE, TRIM, LEFT, RIGHT, LEN, FIND, LOWER, VALUE, ISNUMBER, IFERROR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017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Pivot-style Summaries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295351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AVERAGEIFS, COUNTIFS, SUMPRODUCT to build live, filter-aware summary tables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395935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color-coded charts, and slicer-style dropdowns on a single sheet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5029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9120" y="496519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and pivot total cross-checked against a direct count of the raw data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 turns a messy export into a self-service dashboard — no formulas to touch, just two dropdowns.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24436B"/>
          </a:solidFill>
          <a:ln w="12700">
            <a:solidFill>
              <a:srgbClr val="3C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04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9902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slicer for Country or Language to narrow results further.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24436B"/>
          </a:solidFill>
          <a:ln w="12700">
            <a:solidFill>
              <a:srgbClr val="3C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355848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154680"/>
            <a:ext cx="9902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formula-driven pivots with native Excel PivotTables and slicers for full click-and-drag flexibility.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24436B"/>
          </a:solidFill>
          <a:ln w="12700">
            <a:solidFill>
              <a:srgbClr val="3C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40740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4206240"/>
            <a:ext cx="9902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refresh process so new freelancer sign-ups flow into the same clean structure automatically.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Marketplace Dashboard — Project Walkthrough  • 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2026-10-04T06:22:03Z</dcterms:created>
  <dcterms:modified xsi:type="dcterms:W3CDTF">2026-10-04T06:22:03Z</dcterms:modified>
</cp:coreProperties>
</file>